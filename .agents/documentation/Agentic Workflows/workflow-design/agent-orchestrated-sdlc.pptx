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agent owns the WHY: product vision, market research, competitive benchmarking, and user feedback collection, keeping the project anchored to its goal. It hands vision and goals to the BA agent, which owns the WHAT: specs, features, and acceptance criteria. The architect agent produces ADRs and a technical decomposition; the UX agent works from the ADR to produce design specs. All three downstream planning streams feed the project planner agent, which resolves dependencies, sequences work, and attaches complexity and time estimates before writing sprint-ready items to the task backlog. The developer agent pulls from the backlog and orchestrates FE, BE and data subagents; the test agent loops failures back; the code review agent approves or requests changes; the deployment agent ships to production. Once live, real user feedback flows back to the product agent, closing the outer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01168"/>
            <a:ext cx="8229600" cy="502920"/>
          </a:xfrm>
          <a:prstGeom prst="rect">
            <a:avLst/>
          </a:prstGeom>
          <a:noFill/>
          <a:ln/>
        </p:spPr>
        <p:txBody>
          <a:bodyPr wrap="square" lIns="0" tIns="0" rIns="0" bIns="0" rtlCol="0" anchor="ctr"/>
          <a:lstStyle/>
          <a:p>
            <a:pPr algn="l" indent="0" marL="0">
              <a:buNone/>
            </a:pPr>
            <a:r>
              <a:rPr lang="en-US" sz="2800" b="1" dirty="0">
                <a:solidFill>
                  <a:srgbClr val="1E2761"/>
                </a:solidFill>
                <a:latin typeface="Arial" pitchFamily="34" charset="0"/>
                <a:ea typeface="Arial" pitchFamily="34" charset="-122"/>
                <a:cs typeface="Arial" pitchFamily="34" charset="-120"/>
              </a:rPr>
              <a:t>Agent-orchestrated SDLC</a:t>
            </a:r>
            <a:endParaRPr lang="en-US" sz="2800" dirty="0"/>
          </a:p>
        </p:txBody>
      </p:sp>
      <p:sp>
        <p:nvSpPr>
          <p:cNvPr id="3" name="Text 1"/>
          <p:cNvSpPr/>
          <p:nvPr/>
        </p:nvSpPr>
        <p:spPr>
          <a:xfrm>
            <a:off x="640080" y="731520"/>
            <a:ext cx="10972800" cy="274320"/>
          </a:xfrm>
          <a:prstGeom prst="rect">
            <a:avLst/>
          </a:prstGeom>
          <a:noFill/>
          <a:ln/>
        </p:spPr>
        <p:txBody>
          <a:bodyPr wrap="square" lIns="0" tIns="0" rIns="0" bIns="0" rtlCol="0" anchor="ctr"/>
          <a:lstStyle/>
          <a:p>
            <a:pPr algn="l" indent="0" marL="0">
              <a:buNone/>
            </a:pPr>
            <a:r>
              <a:rPr lang="en-US" sz="1100" i="1" dirty="0">
                <a:solidFill>
                  <a:srgbClr val="6B7280"/>
                </a:solidFill>
                <a:latin typeface="Arial" pitchFamily="34" charset="0"/>
                <a:ea typeface="Arial" pitchFamily="34" charset="-122"/>
                <a:cs typeface="Arial" pitchFamily="34" charset="-120"/>
              </a:rPr>
              <a:t>From product vision to production: planning agents feed a project planner that sequences and estimates work into a shared backlog for execution</a:t>
            </a:r>
            <a:endParaRPr lang="en-US" sz="1100" dirty="0"/>
          </a:p>
        </p:txBody>
      </p:sp>
      <p:sp>
        <p:nvSpPr>
          <p:cNvPr id="4" name="Shape 2"/>
          <p:cNvSpPr/>
          <p:nvPr/>
        </p:nvSpPr>
        <p:spPr>
          <a:xfrm>
            <a:off x="640080" y="1188720"/>
            <a:ext cx="2194560" cy="731520"/>
          </a:xfrm>
          <a:prstGeom prst="roundRect">
            <a:avLst>
              <a:gd name="adj" fmla="val 10000"/>
            </a:avLst>
          </a:prstGeom>
          <a:solidFill>
            <a:srgbClr val="1E2761"/>
          </a:solidFill>
          <a:ln/>
        </p:spPr>
      </p:sp>
      <p:sp>
        <p:nvSpPr>
          <p:cNvPr id="5" name="Text 3"/>
          <p:cNvSpPr/>
          <p:nvPr/>
        </p:nvSpPr>
        <p:spPr>
          <a:xfrm>
            <a:off x="640080" y="1188720"/>
            <a:ext cx="2194560" cy="731520"/>
          </a:xfrm>
          <a:prstGeom prst="rect">
            <a:avLst/>
          </a:prstGeom>
          <a:noFill/>
          <a:ln/>
        </p:spPr>
        <p:txBody>
          <a:bodyPr wrap="square" lIns="0" tIns="0" rIns="0" bIns="0" rtlCol="0" anchor="ctr"/>
          <a:lstStyle/>
          <a:p>
            <a:pPr algn="ctr" indent="0" marL="0">
              <a:lnSpc>
                <a:spcPct val="112000"/>
              </a:lnSpc>
              <a:buNone/>
            </a:pPr>
            <a:r>
              <a:rPr lang="en-US" sz="1250" b="1" dirty="0">
                <a:solidFill>
                  <a:srgbClr val="FFFFFF"/>
                </a:solidFill>
                <a:latin typeface="Arial" pitchFamily="34" charset="0"/>
                <a:ea typeface="Arial" pitchFamily="34" charset="-122"/>
                <a:cs typeface="Arial" pitchFamily="34" charset="-120"/>
              </a:rPr>
              <a:t>Product agent</a:t>
            </a:r>
            <a:endParaRPr lang="en-US" sz="1250" dirty="0"/>
          </a:p>
          <a:p>
            <a:pPr algn="ctr" indent="0" marL="0">
              <a:lnSpc>
                <a:spcPct val="112000"/>
              </a:lnSpc>
              <a:buNone/>
            </a:pPr>
            <a:r>
              <a:rPr lang="en-US" sz="850" dirty="0">
                <a:solidFill>
                  <a:srgbClr val="E5E7EB"/>
                </a:solidFill>
                <a:latin typeface="Arial" pitchFamily="34" charset="0"/>
                <a:ea typeface="Arial" pitchFamily="34" charset="-122"/>
                <a:cs typeface="Arial" pitchFamily="34" charset="-120"/>
              </a:rPr>
              <a:t>Vision, market research, user feedback</a:t>
            </a:r>
            <a:endParaRPr lang="en-US" sz="1250" dirty="0"/>
          </a:p>
        </p:txBody>
      </p:sp>
      <p:sp>
        <p:nvSpPr>
          <p:cNvPr id="6" name="Shape 4"/>
          <p:cNvSpPr/>
          <p:nvPr/>
        </p:nvSpPr>
        <p:spPr>
          <a:xfrm>
            <a:off x="3429000" y="1188720"/>
            <a:ext cx="2194560" cy="731520"/>
          </a:xfrm>
          <a:prstGeom prst="roundRect">
            <a:avLst>
              <a:gd name="adj" fmla="val 10000"/>
            </a:avLst>
          </a:prstGeom>
          <a:solidFill>
            <a:srgbClr val="1E2761"/>
          </a:solidFill>
          <a:ln/>
        </p:spPr>
      </p:sp>
      <p:sp>
        <p:nvSpPr>
          <p:cNvPr id="7" name="Text 5"/>
          <p:cNvSpPr/>
          <p:nvPr/>
        </p:nvSpPr>
        <p:spPr>
          <a:xfrm>
            <a:off x="3429000" y="1188720"/>
            <a:ext cx="2194560" cy="731520"/>
          </a:xfrm>
          <a:prstGeom prst="rect">
            <a:avLst/>
          </a:prstGeom>
          <a:noFill/>
          <a:ln/>
        </p:spPr>
        <p:txBody>
          <a:bodyPr wrap="square" lIns="0" tIns="0" rIns="0" bIns="0" rtlCol="0" anchor="ctr"/>
          <a:lstStyle/>
          <a:p>
            <a:pPr algn="ctr" indent="0" marL="0">
              <a:lnSpc>
                <a:spcPct val="112000"/>
              </a:lnSpc>
              <a:buNone/>
            </a:pPr>
            <a:r>
              <a:rPr lang="en-US" sz="1250" b="1" dirty="0">
                <a:solidFill>
                  <a:srgbClr val="FFFFFF"/>
                </a:solidFill>
                <a:latin typeface="Arial" pitchFamily="34" charset="0"/>
                <a:ea typeface="Arial" pitchFamily="34" charset="-122"/>
                <a:cs typeface="Arial" pitchFamily="34" charset="-120"/>
              </a:rPr>
              <a:t>BA agent</a:t>
            </a:r>
            <a:endParaRPr lang="en-US" sz="1250" dirty="0"/>
          </a:p>
          <a:p>
            <a:pPr algn="ctr" indent="0" marL="0">
              <a:lnSpc>
                <a:spcPct val="112000"/>
              </a:lnSpc>
              <a:buNone/>
            </a:pPr>
            <a:r>
              <a:rPr lang="en-US" sz="850" dirty="0">
                <a:solidFill>
                  <a:srgbClr val="E5E7EB"/>
                </a:solidFill>
                <a:latin typeface="Arial" pitchFamily="34" charset="0"/>
                <a:ea typeface="Arial" pitchFamily="34" charset="-122"/>
                <a:cs typeface="Arial" pitchFamily="34" charset="-120"/>
              </a:rPr>
              <a:t>Specs, features, acceptance criteria</a:t>
            </a:r>
            <a:endParaRPr lang="en-US" sz="1250" dirty="0"/>
          </a:p>
        </p:txBody>
      </p:sp>
      <p:sp>
        <p:nvSpPr>
          <p:cNvPr id="8" name="Shape 6"/>
          <p:cNvSpPr/>
          <p:nvPr/>
        </p:nvSpPr>
        <p:spPr>
          <a:xfrm>
            <a:off x="6217920" y="1188720"/>
            <a:ext cx="2194560" cy="731520"/>
          </a:xfrm>
          <a:prstGeom prst="roundRect">
            <a:avLst>
              <a:gd name="adj" fmla="val 10000"/>
            </a:avLst>
          </a:prstGeom>
          <a:solidFill>
            <a:srgbClr val="1E2761"/>
          </a:solidFill>
          <a:ln/>
        </p:spPr>
      </p:sp>
      <p:sp>
        <p:nvSpPr>
          <p:cNvPr id="9" name="Text 7"/>
          <p:cNvSpPr/>
          <p:nvPr/>
        </p:nvSpPr>
        <p:spPr>
          <a:xfrm>
            <a:off x="6217920" y="1188720"/>
            <a:ext cx="2194560" cy="731520"/>
          </a:xfrm>
          <a:prstGeom prst="rect">
            <a:avLst/>
          </a:prstGeom>
          <a:noFill/>
          <a:ln/>
        </p:spPr>
        <p:txBody>
          <a:bodyPr wrap="square" lIns="0" tIns="0" rIns="0" bIns="0" rtlCol="0" anchor="ctr"/>
          <a:lstStyle/>
          <a:p>
            <a:pPr algn="ctr" indent="0" marL="0">
              <a:lnSpc>
                <a:spcPct val="112000"/>
              </a:lnSpc>
              <a:buNone/>
            </a:pPr>
            <a:r>
              <a:rPr lang="en-US" sz="1250" b="1" dirty="0">
                <a:solidFill>
                  <a:srgbClr val="FFFFFF"/>
                </a:solidFill>
                <a:latin typeface="Arial" pitchFamily="34" charset="0"/>
                <a:ea typeface="Arial" pitchFamily="34" charset="-122"/>
                <a:cs typeface="Arial" pitchFamily="34" charset="-120"/>
              </a:rPr>
              <a:t>Architect agent</a:t>
            </a:r>
            <a:endParaRPr lang="en-US" sz="1250" dirty="0"/>
          </a:p>
          <a:p>
            <a:pPr algn="ctr" indent="0" marL="0">
              <a:lnSpc>
                <a:spcPct val="112000"/>
              </a:lnSpc>
              <a:buNone/>
            </a:pPr>
            <a:r>
              <a:rPr lang="en-US" sz="850" dirty="0">
                <a:solidFill>
                  <a:srgbClr val="E5E7EB"/>
                </a:solidFill>
                <a:latin typeface="Arial" pitchFamily="34" charset="0"/>
                <a:ea typeface="Arial" pitchFamily="34" charset="-122"/>
                <a:cs typeface="Arial" pitchFamily="34" charset="-120"/>
              </a:rPr>
              <a:t>ADRs, technical decomposition</a:t>
            </a:r>
            <a:endParaRPr lang="en-US" sz="1250" dirty="0"/>
          </a:p>
        </p:txBody>
      </p:sp>
      <p:sp>
        <p:nvSpPr>
          <p:cNvPr id="10" name="Shape 8"/>
          <p:cNvSpPr/>
          <p:nvPr/>
        </p:nvSpPr>
        <p:spPr>
          <a:xfrm>
            <a:off x="9006840" y="1188720"/>
            <a:ext cx="2194560" cy="731520"/>
          </a:xfrm>
          <a:prstGeom prst="roundRect">
            <a:avLst>
              <a:gd name="adj" fmla="val 10000"/>
            </a:avLst>
          </a:prstGeom>
          <a:solidFill>
            <a:srgbClr val="1E2761"/>
          </a:solidFill>
          <a:ln/>
        </p:spPr>
      </p:sp>
      <p:sp>
        <p:nvSpPr>
          <p:cNvPr id="11" name="Text 9"/>
          <p:cNvSpPr/>
          <p:nvPr/>
        </p:nvSpPr>
        <p:spPr>
          <a:xfrm>
            <a:off x="9006840" y="1188720"/>
            <a:ext cx="2194560" cy="731520"/>
          </a:xfrm>
          <a:prstGeom prst="rect">
            <a:avLst/>
          </a:prstGeom>
          <a:noFill/>
          <a:ln/>
        </p:spPr>
        <p:txBody>
          <a:bodyPr wrap="square" lIns="0" tIns="0" rIns="0" bIns="0" rtlCol="0" anchor="ctr"/>
          <a:lstStyle/>
          <a:p>
            <a:pPr algn="ctr" indent="0" marL="0">
              <a:lnSpc>
                <a:spcPct val="112000"/>
              </a:lnSpc>
              <a:buNone/>
            </a:pPr>
            <a:r>
              <a:rPr lang="en-US" sz="1250" b="1" dirty="0">
                <a:solidFill>
                  <a:srgbClr val="FFFFFF"/>
                </a:solidFill>
                <a:latin typeface="Arial" pitchFamily="34" charset="0"/>
                <a:ea typeface="Arial" pitchFamily="34" charset="-122"/>
                <a:cs typeface="Arial" pitchFamily="34" charset="-120"/>
              </a:rPr>
              <a:t>UX agent</a:t>
            </a:r>
            <a:endParaRPr lang="en-US" sz="1250" dirty="0"/>
          </a:p>
          <a:p>
            <a:pPr algn="ctr" indent="0" marL="0">
              <a:lnSpc>
                <a:spcPct val="112000"/>
              </a:lnSpc>
              <a:buNone/>
            </a:pPr>
            <a:r>
              <a:rPr lang="en-US" sz="850" dirty="0">
                <a:solidFill>
                  <a:srgbClr val="E5E7EB"/>
                </a:solidFill>
                <a:latin typeface="Arial" pitchFamily="34" charset="0"/>
                <a:ea typeface="Arial" pitchFamily="34" charset="-122"/>
                <a:cs typeface="Arial" pitchFamily="34" charset="-120"/>
              </a:rPr>
              <a:t>Design specs from ADR</a:t>
            </a:r>
            <a:endParaRPr lang="en-US" sz="1250" dirty="0"/>
          </a:p>
        </p:txBody>
      </p:sp>
      <p:sp>
        <p:nvSpPr>
          <p:cNvPr id="12" name="Shape 10"/>
          <p:cNvSpPr/>
          <p:nvPr/>
        </p:nvSpPr>
        <p:spPr>
          <a:xfrm>
            <a:off x="2852928" y="1554480"/>
            <a:ext cx="557784" cy="0"/>
          </a:xfrm>
          <a:prstGeom prst="line">
            <a:avLst/>
          </a:prstGeom>
          <a:noFill/>
          <a:ln w="19050">
            <a:solidFill>
              <a:srgbClr val="6B7280"/>
            </a:solidFill>
            <a:prstDash val="solid"/>
            <a:tailEnd type="triangle"/>
          </a:ln>
        </p:spPr>
      </p:sp>
      <p:sp>
        <p:nvSpPr>
          <p:cNvPr id="13" name="Text 11"/>
          <p:cNvSpPr/>
          <p:nvPr/>
        </p:nvSpPr>
        <p:spPr>
          <a:xfrm>
            <a:off x="2583180" y="1271016"/>
            <a:ext cx="1097280" cy="256032"/>
          </a:xfrm>
          <a:prstGeom prst="rect">
            <a:avLst/>
          </a:prstGeom>
          <a:noFill/>
          <a:ln/>
        </p:spPr>
        <p:txBody>
          <a:bodyPr wrap="square" lIns="0" tIns="0" rIns="0" bIns="0" rtlCol="0" anchor="b"/>
          <a:lstStyle/>
          <a:p>
            <a:pPr algn="ctr" indent="0" marL="0">
              <a:buNone/>
            </a:pPr>
            <a:r>
              <a:rPr lang="en-US" sz="900" i="1" dirty="0">
                <a:solidFill>
                  <a:srgbClr val="6B7280"/>
                </a:solidFill>
                <a:latin typeface="Arial" pitchFamily="34" charset="0"/>
                <a:ea typeface="Arial" pitchFamily="34" charset="-122"/>
                <a:cs typeface="Arial" pitchFamily="34" charset="-120"/>
              </a:rPr>
              <a:t>vision</a:t>
            </a:r>
            <a:endParaRPr lang="en-US" sz="900" dirty="0"/>
          </a:p>
        </p:txBody>
      </p:sp>
      <p:sp>
        <p:nvSpPr>
          <p:cNvPr id="14" name="Shape 12"/>
          <p:cNvSpPr/>
          <p:nvPr/>
        </p:nvSpPr>
        <p:spPr>
          <a:xfrm>
            <a:off x="5641848" y="1554480"/>
            <a:ext cx="557784" cy="0"/>
          </a:xfrm>
          <a:prstGeom prst="line">
            <a:avLst/>
          </a:prstGeom>
          <a:noFill/>
          <a:ln w="19050">
            <a:solidFill>
              <a:srgbClr val="6B7280"/>
            </a:solidFill>
            <a:prstDash val="solid"/>
            <a:tailEnd type="triangle"/>
          </a:ln>
        </p:spPr>
      </p:sp>
      <p:sp>
        <p:nvSpPr>
          <p:cNvPr id="15" name="Text 13"/>
          <p:cNvSpPr/>
          <p:nvPr/>
        </p:nvSpPr>
        <p:spPr>
          <a:xfrm>
            <a:off x="5372100" y="1271016"/>
            <a:ext cx="1097280" cy="256032"/>
          </a:xfrm>
          <a:prstGeom prst="rect">
            <a:avLst/>
          </a:prstGeom>
          <a:noFill/>
          <a:ln/>
        </p:spPr>
        <p:txBody>
          <a:bodyPr wrap="square" lIns="0" tIns="0" rIns="0" bIns="0" rtlCol="0" anchor="b"/>
          <a:lstStyle/>
          <a:p>
            <a:pPr algn="ctr" indent="0" marL="0">
              <a:buNone/>
            </a:pPr>
            <a:r>
              <a:rPr lang="en-US" sz="900" i="1" dirty="0">
                <a:solidFill>
                  <a:srgbClr val="6B7280"/>
                </a:solidFill>
                <a:latin typeface="Arial" pitchFamily="34" charset="0"/>
                <a:ea typeface="Arial" pitchFamily="34" charset="-122"/>
                <a:cs typeface="Arial" pitchFamily="34" charset="-120"/>
              </a:rPr>
              <a:t>specs</a:t>
            </a:r>
            <a:endParaRPr lang="en-US" sz="900" dirty="0"/>
          </a:p>
        </p:txBody>
      </p:sp>
      <p:sp>
        <p:nvSpPr>
          <p:cNvPr id="16" name="Shape 14"/>
          <p:cNvSpPr/>
          <p:nvPr/>
        </p:nvSpPr>
        <p:spPr>
          <a:xfrm>
            <a:off x="8430768" y="1554480"/>
            <a:ext cx="557784" cy="0"/>
          </a:xfrm>
          <a:prstGeom prst="line">
            <a:avLst/>
          </a:prstGeom>
          <a:noFill/>
          <a:ln w="19050">
            <a:solidFill>
              <a:srgbClr val="6B7280"/>
            </a:solidFill>
            <a:prstDash val="solid"/>
            <a:tailEnd type="triangle"/>
          </a:ln>
        </p:spPr>
      </p:sp>
      <p:sp>
        <p:nvSpPr>
          <p:cNvPr id="17" name="Text 15"/>
          <p:cNvSpPr/>
          <p:nvPr/>
        </p:nvSpPr>
        <p:spPr>
          <a:xfrm>
            <a:off x="8161020" y="1271016"/>
            <a:ext cx="1097280" cy="256032"/>
          </a:xfrm>
          <a:prstGeom prst="rect">
            <a:avLst/>
          </a:prstGeom>
          <a:noFill/>
          <a:ln/>
        </p:spPr>
        <p:txBody>
          <a:bodyPr wrap="square" lIns="0" tIns="0" rIns="0" bIns="0" rtlCol="0" anchor="b"/>
          <a:lstStyle/>
          <a:p>
            <a:pPr algn="ctr" indent="0" marL="0">
              <a:buNone/>
            </a:pPr>
            <a:r>
              <a:rPr lang="en-US" sz="900" i="1" dirty="0">
                <a:solidFill>
                  <a:srgbClr val="6B7280"/>
                </a:solidFill>
                <a:latin typeface="Arial" pitchFamily="34" charset="0"/>
                <a:ea typeface="Arial" pitchFamily="34" charset="-122"/>
                <a:cs typeface="Arial" pitchFamily="34" charset="-120"/>
              </a:rPr>
              <a:t>ADR</a:t>
            </a:r>
            <a:endParaRPr lang="en-US" sz="900" dirty="0"/>
          </a:p>
        </p:txBody>
      </p:sp>
      <p:sp>
        <p:nvSpPr>
          <p:cNvPr id="18" name="Shape 16"/>
          <p:cNvSpPr/>
          <p:nvPr/>
        </p:nvSpPr>
        <p:spPr>
          <a:xfrm>
            <a:off x="6172200" y="2432304"/>
            <a:ext cx="2286000" cy="731520"/>
          </a:xfrm>
          <a:prstGeom prst="roundRect">
            <a:avLst>
              <a:gd name="adj" fmla="val 10000"/>
            </a:avLst>
          </a:prstGeom>
          <a:solidFill>
            <a:srgbClr val="1E2761"/>
          </a:solidFill>
          <a:ln/>
        </p:spPr>
      </p:sp>
      <p:sp>
        <p:nvSpPr>
          <p:cNvPr id="19" name="Text 17"/>
          <p:cNvSpPr/>
          <p:nvPr/>
        </p:nvSpPr>
        <p:spPr>
          <a:xfrm>
            <a:off x="6172200" y="2432304"/>
            <a:ext cx="2286000" cy="731520"/>
          </a:xfrm>
          <a:prstGeom prst="rect">
            <a:avLst/>
          </a:prstGeom>
          <a:noFill/>
          <a:ln/>
        </p:spPr>
        <p:txBody>
          <a:bodyPr wrap="square" lIns="0" tIns="0" rIns="0" bIns="0" rtlCol="0" anchor="ctr"/>
          <a:lstStyle/>
          <a:p>
            <a:pPr algn="ctr" indent="0" marL="0">
              <a:lnSpc>
                <a:spcPct val="112000"/>
              </a:lnSpc>
              <a:buNone/>
            </a:pPr>
            <a:r>
              <a:rPr lang="en-US" sz="1250" b="1" dirty="0">
                <a:solidFill>
                  <a:srgbClr val="FFFFFF"/>
                </a:solidFill>
                <a:latin typeface="Arial" pitchFamily="34" charset="0"/>
                <a:ea typeface="Arial" pitchFamily="34" charset="-122"/>
                <a:cs typeface="Arial" pitchFamily="34" charset="-120"/>
              </a:rPr>
              <a:t>Project planner agent</a:t>
            </a:r>
            <a:endParaRPr lang="en-US" sz="1250" dirty="0"/>
          </a:p>
          <a:p>
            <a:pPr algn="ctr" indent="0" marL="0">
              <a:lnSpc>
                <a:spcPct val="112000"/>
              </a:lnSpc>
              <a:buNone/>
            </a:pPr>
            <a:r>
              <a:rPr lang="en-US" sz="850" dirty="0">
                <a:solidFill>
                  <a:srgbClr val="E5E7EB"/>
                </a:solidFill>
                <a:latin typeface="Arial" pitchFamily="34" charset="0"/>
                <a:ea typeface="Arial" pitchFamily="34" charset="-122"/>
                <a:cs typeface="Arial" pitchFamily="34" charset="-120"/>
              </a:rPr>
              <a:t>Dependencies, sequencing, estimates</a:t>
            </a:r>
            <a:endParaRPr lang="en-US" sz="1250" dirty="0"/>
          </a:p>
        </p:txBody>
      </p:sp>
      <p:sp>
        <p:nvSpPr>
          <p:cNvPr id="20" name="Shape 18"/>
          <p:cNvSpPr/>
          <p:nvPr/>
        </p:nvSpPr>
        <p:spPr>
          <a:xfrm>
            <a:off x="4526280" y="1920240"/>
            <a:ext cx="0" cy="877824"/>
          </a:xfrm>
          <a:prstGeom prst="line">
            <a:avLst/>
          </a:prstGeom>
          <a:noFill/>
          <a:ln w="15875">
            <a:solidFill>
              <a:srgbClr val="6B7280"/>
            </a:solidFill>
            <a:prstDash val="solid"/>
          </a:ln>
        </p:spPr>
      </p:sp>
      <p:sp>
        <p:nvSpPr>
          <p:cNvPr id="21" name="Shape 19"/>
          <p:cNvSpPr/>
          <p:nvPr/>
        </p:nvSpPr>
        <p:spPr>
          <a:xfrm>
            <a:off x="4526280" y="2798064"/>
            <a:ext cx="1627632" cy="0"/>
          </a:xfrm>
          <a:prstGeom prst="line">
            <a:avLst/>
          </a:prstGeom>
          <a:noFill/>
          <a:ln w="15875">
            <a:solidFill>
              <a:srgbClr val="6B7280"/>
            </a:solidFill>
            <a:prstDash val="solid"/>
            <a:tailEnd type="triangle"/>
          </a:ln>
        </p:spPr>
      </p:sp>
      <p:sp>
        <p:nvSpPr>
          <p:cNvPr id="22" name="Text 20"/>
          <p:cNvSpPr/>
          <p:nvPr/>
        </p:nvSpPr>
        <p:spPr>
          <a:xfrm>
            <a:off x="4434840" y="2514600"/>
            <a:ext cx="1737360" cy="246888"/>
          </a:xfrm>
          <a:prstGeom prst="rect">
            <a:avLst/>
          </a:prstGeom>
          <a:noFill/>
          <a:ln/>
        </p:spPr>
        <p:txBody>
          <a:bodyPr wrap="square" lIns="0" tIns="0" rIns="0" bIns="0" rtlCol="0" anchor="b"/>
          <a:lstStyle/>
          <a:p>
            <a:pPr algn="ctr" indent="0" marL="0">
              <a:buNone/>
            </a:pPr>
            <a:r>
              <a:rPr lang="en-US" sz="900" i="1" dirty="0">
                <a:solidFill>
                  <a:srgbClr val="6B7280"/>
                </a:solidFill>
                <a:latin typeface="Arial" pitchFamily="34" charset="0"/>
                <a:ea typeface="Arial" pitchFamily="34" charset="-122"/>
                <a:cs typeface="Arial" pitchFamily="34" charset="-120"/>
              </a:rPr>
              <a:t>acceptance criteria</a:t>
            </a:r>
            <a:endParaRPr lang="en-US" sz="900" dirty="0"/>
          </a:p>
        </p:txBody>
      </p:sp>
      <p:sp>
        <p:nvSpPr>
          <p:cNvPr id="23" name="Shape 21"/>
          <p:cNvSpPr/>
          <p:nvPr/>
        </p:nvSpPr>
        <p:spPr>
          <a:xfrm>
            <a:off x="7315200" y="1920240"/>
            <a:ext cx="0" cy="493776"/>
          </a:xfrm>
          <a:prstGeom prst="line">
            <a:avLst/>
          </a:prstGeom>
          <a:noFill/>
          <a:ln w="15875">
            <a:solidFill>
              <a:srgbClr val="6B7280"/>
            </a:solidFill>
            <a:prstDash val="solid"/>
            <a:tailEnd type="triangle"/>
          </a:ln>
        </p:spPr>
      </p:sp>
      <p:sp>
        <p:nvSpPr>
          <p:cNvPr id="24" name="Text 22"/>
          <p:cNvSpPr/>
          <p:nvPr/>
        </p:nvSpPr>
        <p:spPr>
          <a:xfrm>
            <a:off x="7424928" y="1975104"/>
            <a:ext cx="1371600" cy="219456"/>
          </a:xfrm>
          <a:prstGeom prst="rect">
            <a:avLst/>
          </a:prstGeom>
          <a:noFill/>
          <a:ln/>
        </p:spPr>
        <p:txBody>
          <a:bodyPr wrap="square" lIns="0" tIns="0" rIns="0" bIns="0" rtlCol="0" anchor="ctr"/>
          <a:lstStyle/>
          <a:p>
            <a:pPr algn="l" indent="0" marL="0">
              <a:buNone/>
            </a:pPr>
            <a:r>
              <a:rPr lang="en-US" sz="900" i="1" dirty="0">
                <a:solidFill>
                  <a:srgbClr val="6B7280"/>
                </a:solidFill>
                <a:latin typeface="Arial" pitchFamily="34" charset="0"/>
                <a:ea typeface="Arial" pitchFamily="34" charset="-122"/>
                <a:cs typeface="Arial" pitchFamily="34" charset="-120"/>
              </a:rPr>
              <a:t>technical tasks</a:t>
            </a:r>
            <a:endParaRPr lang="en-US" sz="900" dirty="0"/>
          </a:p>
        </p:txBody>
      </p:sp>
      <p:sp>
        <p:nvSpPr>
          <p:cNvPr id="25" name="Shape 23"/>
          <p:cNvSpPr/>
          <p:nvPr/>
        </p:nvSpPr>
        <p:spPr>
          <a:xfrm>
            <a:off x="10104120" y="1920240"/>
            <a:ext cx="0" cy="877824"/>
          </a:xfrm>
          <a:prstGeom prst="line">
            <a:avLst/>
          </a:prstGeom>
          <a:noFill/>
          <a:ln w="15875">
            <a:solidFill>
              <a:srgbClr val="6B7280"/>
            </a:solidFill>
            <a:prstDash val="solid"/>
          </a:ln>
        </p:spPr>
      </p:sp>
      <p:sp>
        <p:nvSpPr>
          <p:cNvPr id="26" name="Shape 24"/>
          <p:cNvSpPr/>
          <p:nvPr/>
        </p:nvSpPr>
        <p:spPr>
          <a:xfrm>
            <a:off x="8476488" y="2798064"/>
            <a:ext cx="1627632" cy="0"/>
          </a:xfrm>
          <a:prstGeom prst="line">
            <a:avLst/>
          </a:prstGeom>
          <a:noFill/>
          <a:ln w="15875">
            <a:solidFill>
              <a:srgbClr val="6B7280"/>
            </a:solidFill>
            <a:prstDash val="solid"/>
            <a:headEnd type="triangle"/>
          </a:ln>
        </p:spPr>
      </p:sp>
      <p:sp>
        <p:nvSpPr>
          <p:cNvPr id="27" name="Text 25"/>
          <p:cNvSpPr/>
          <p:nvPr/>
        </p:nvSpPr>
        <p:spPr>
          <a:xfrm>
            <a:off x="8549640" y="2514600"/>
            <a:ext cx="1463040" cy="246888"/>
          </a:xfrm>
          <a:prstGeom prst="rect">
            <a:avLst/>
          </a:prstGeom>
          <a:noFill/>
          <a:ln/>
        </p:spPr>
        <p:txBody>
          <a:bodyPr wrap="square" lIns="0" tIns="0" rIns="0" bIns="0" rtlCol="0" anchor="b"/>
          <a:lstStyle/>
          <a:p>
            <a:pPr algn="ctr" indent="0" marL="0">
              <a:buNone/>
            </a:pPr>
            <a:r>
              <a:rPr lang="en-US" sz="900" i="1" dirty="0">
                <a:solidFill>
                  <a:srgbClr val="6B7280"/>
                </a:solidFill>
                <a:latin typeface="Arial" pitchFamily="34" charset="0"/>
                <a:ea typeface="Arial" pitchFamily="34" charset="-122"/>
                <a:cs typeface="Arial" pitchFamily="34" charset="-120"/>
              </a:rPr>
              <a:t>design tasks</a:t>
            </a:r>
            <a:endParaRPr lang="en-US" sz="900" dirty="0"/>
          </a:p>
        </p:txBody>
      </p:sp>
      <p:sp>
        <p:nvSpPr>
          <p:cNvPr id="28" name="Shape 26"/>
          <p:cNvSpPr/>
          <p:nvPr/>
        </p:nvSpPr>
        <p:spPr>
          <a:xfrm>
            <a:off x="6126480" y="3602736"/>
            <a:ext cx="2377440" cy="530352"/>
          </a:xfrm>
          <a:prstGeom prst="roundRect">
            <a:avLst>
              <a:gd name="adj" fmla="val 13793"/>
            </a:avLst>
          </a:prstGeom>
          <a:solidFill>
            <a:srgbClr val="F3F4F6"/>
          </a:solidFill>
          <a:ln w="12700">
            <a:solidFill>
              <a:srgbClr val="6B7280"/>
            </a:solidFill>
            <a:prstDash val="dash"/>
          </a:ln>
        </p:spPr>
      </p:sp>
      <p:sp>
        <p:nvSpPr>
          <p:cNvPr id="29" name="Text 27"/>
          <p:cNvSpPr/>
          <p:nvPr/>
        </p:nvSpPr>
        <p:spPr>
          <a:xfrm>
            <a:off x="6126480" y="3602736"/>
            <a:ext cx="2377440" cy="530352"/>
          </a:xfrm>
          <a:prstGeom prst="rect">
            <a:avLst/>
          </a:prstGeom>
          <a:noFill/>
          <a:ln/>
        </p:spPr>
        <p:txBody>
          <a:bodyPr wrap="square" lIns="0" tIns="0" rIns="0" bIns="0" rtlCol="0" anchor="ctr"/>
          <a:lstStyle/>
          <a:p>
            <a:pPr algn="ctr" indent="0" marL="0">
              <a:lnSpc>
                <a:spcPct val="110000"/>
              </a:lnSpc>
              <a:buNone/>
            </a:pPr>
            <a:r>
              <a:rPr lang="en-US" sz="1200" b="1" dirty="0">
                <a:solidFill>
                  <a:srgbClr val="374151"/>
                </a:solidFill>
                <a:latin typeface="Arial" pitchFamily="34" charset="0"/>
                <a:ea typeface="Arial" pitchFamily="34" charset="-122"/>
                <a:cs typeface="Arial" pitchFamily="34" charset="-120"/>
              </a:rPr>
              <a:t>Task backlog</a:t>
            </a:r>
            <a:endParaRPr lang="en-US" sz="1200" dirty="0"/>
          </a:p>
          <a:p>
            <a:pPr algn="ctr" indent="0" marL="0">
              <a:lnSpc>
                <a:spcPct val="110000"/>
              </a:lnSpc>
              <a:buNone/>
            </a:pPr>
            <a:r>
              <a:rPr lang="en-US" sz="900" i="1" dirty="0">
                <a:solidFill>
                  <a:srgbClr val="6B7280"/>
                </a:solidFill>
                <a:latin typeface="Arial" pitchFamily="34" charset="0"/>
                <a:ea typeface="Arial" pitchFamily="34" charset="-122"/>
                <a:cs typeface="Arial" pitchFamily="34" charset="-120"/>
              </a:rPr>
              <a:t>Sequenced · estimated · prioritized</a:t>
            </a:r>
            <a:endParaRPr lang="en-US" sz="1200" dirty="0"/>
          </a:p>
        </p:txBody>
      </p:sp>
      <p:sp>
        <p:nvSpPr>
          <p:cNvPr id="30" name="Shape 28"/>
          <p:cNvSpPr/>
          <p:nvPr/>
        </p:nvSpPr>
        <p:spPr>
          <a:xfrm>
            <a:off x="7315200" y="3163824"/>
            <a:ext cx="0" cy="420624"/>
          </a:xfrm>
          <a:prstGeom prst="line">
            <a:avLst/>
          </a:prstGeom>
          <a:noFill/>
          <a:ln w="19050">
            <a:solidFill>
              <a:srgbClr val="6B7280"/>
            </a:solidFill>
            <a:prstDash val="solid"/>
            <a:tailEnd type="triangle"/>
          </a:ln>
        </p:spPr>
      </p:sp>
      <p:sp>
        <p:nvSpPr>
          <p:cNvPr id="31" name="Text 29"/>
          <p:cNvSpPr/>
          <p:nvPr/>
        </p:nvSpPr>
        <p:spPr>
          <a:xfrm>
            <a:off x="7424928" y="3209544"/>
            <a:ext cx="3474720" cy="219456"/>
          </a:xfrm>
          <a:prstGeom prst="rect">
            <a:avLst/>
          </a:prstGeom>
          <a:noFill/>
          <a:ln/>
        </p:spPr>
        <p:txBody>
          <a:bodyPr wrap="square" lIns="0" tIns="0" rIns="0" bIns="0" rtlCol="0" anchor="ctr"/>
          <a:lstStyle/>
          <a:p>
            <a:pPr algn="l" indent="0" marL="0">
              <a:buNone/>
            </a:pPr>
            <a:r>
              <a:rPr lang="en-US" sz="900" i="1" dirty="0">
                <a:solidFill>
                  <a:srgbClr val="6B7280"/>
                </a:solidFill>
                <a:latin typeface="Arial" pitchFamily="34" charset="0"/>
                <a:ea typeface="Arial" pitchFamily="34" charset="-122"/>
                <a:cs typeface="Arial" pitchFamily="34" charset="-120"/>
              </a:rPr>
              <a:t>ordered tasks + complexity / time estimates</a:t>
            </a:r>
            <a:endParaRPr lang="en-US" sz="900" dirty="0"/>
          </a:p>
        </p:txBody>
      </p:sp>
      <p:sp>
        <p:nvSpPr>
          <p:cNvPr id="32" name="Shape 30"/>
          <p:cNvSpPr/>
          <p:nvPr/>
        </p:nvSpPr>
        <p:spPr>
          <a:xfrm>
            <a:off x="7315200" y="4133088"/>
            <a:ext cx="0" cy="219456"/>
          </a:xfrm>
          <a:prstGeom prst="line">
            <a:avLst/>
          </a:prstGeom>
          <a:noFill/>
          <a:ln w="19050">
            <a:solidFill>
              <a:srgbClr val="6B7280"/>
            </a:solidFill>
            <a:prstDash val="solid"/>
          </a:ln>
        </p:spPr>
      </p:sp>
      <p:sp>
        <p:nvSpPr>
          <p:cNvPr id="33" name="Shape 31"/>
          <p:cNvSpPr/>
          <p:nvPr/>
        </p:nvSpPr>
        <p:spPr>
          <a:xfrm>
            <a:off x="1691640" y="4352544"/>
            <a:ext cx="5623560" cy="0"/>
          </a:xfrm>
          <a:prstGeom prst="line">
            <a:avLst/>
          </a:prstGeom>
          <a:noFill/>
          <a:ln w="19050">
            <a:solidFill>
              <a:srgbClr val="6B7280"/>
            </a:solidFill>
            <a:prstDash val="solid"/>
          </a:ln>
        </p:spPr>
      </p:sp>
      <p:sp>
        <p:nvSpPr>
          <p:cNvPr id="34" name="Shape 32"/>
          <p:cNvSpPr/>
          <p:nvPr/>
        </p:nvSpPr>
        <p:spPr>
          <a:xfrm>
            <a:off x="1691640" y="4352544"/>
            <a:ext cx="0" cy="182880"/>
          </a:xfrm>
          <a:prstGeom prst="line">
            <a:avLst/>
          </a:prstGeom>
          <a:noFill/>
          <a:ln w="19050">
            <a:solidFill>
              <a:srgbClr val="6B7280"/>
            </a:solidFill>
            <a:prstDash val="solid"/>
            <a:tailEnd type="triangle"/>
          </a:ln>
        </p:spPr>
      </p:sp>
      <p:sp>
        <p:nvSpPr>
          <p:cNvPr id="35" name="Text 33"/>
          <p:cNvSpPr/>
          <p:nvPr/>
        </p:nvSpPr>
        <p:spPr>
          <a:xfrm>
            <a:off x="1874520" y="4078224"/>
            <a:ext cx="2103120" cy="237744"/>
          </a:xfrm>
          <a:prstGeom prst="rect">
            <a:avLst/>
          </a:prstGeom>
          <a:noFill/>
          <a:ln/>
        </p:spPr>
        <p:txBody>
          <a:bodyPr wrap="square" lIns="0" tIns="0" rIns="0" bIns="0" rtlCol="0" anchor="b"/>
          <a:lstStyle/>
          <a:p>
            <a:pPr algn="l" indent="0" marL="0">
              <a:buNone/>
            </a:pPr>
            <a:r>
              <a:rPr lang="en-US" sz="900" i="1" dirty="0">
                <a:solidFill>
                  <a:srgbClr val="6B7280"/>
                </a:solidFill>
                <a:latin typeface="Arial" pitchFamily="34" charset="0"/>
                <a:ea typeface="Arial" pitchFamily="34" charset="-122"/>
                <a:cs typeface="Arial" pitchFamily="34" charset="-120"/>
              </a:rPr>
              <a:t>pulls sprint-ready tasks</a:t>
            </a:r>
            <a:endParaRPr lang="en-US" sz="900" dirty="0"/>
          </a:p>
        </p:txBody>
      </p:sp>
      <p:sp>
        <p:nvSpPr>
          <p:cNvPr id="36" name="Shape 34"/>
          <p:cNvSpPr/>
          <p:nvPr/>
        </p:nvSpPr>
        <p:spPr>
          <a:xfrm>
            <a:off x="640080" y="4553712"/>
            <a:ext cx="2103120" cy="731520"/>
          </a:xfrm>
          <a:prstGeom prst="roundRect">
            <a:avLst>
              <a:gd name="adj" fmla="val 10000"/>
            </a:avLst>
          </a:prstGeom>
          <a:solidFill>
            <a:srgbClr val="028090"/>
          </a:solidFill>
          <a:ln/>
        </p:spPr>
      </p:sp>
      <p:sp>
        <p:nvSpPr>
          <p:cNvPr id="37" name="Text 35"/>
          <p:cNvSpPr/>
          <p:nvPr/>
        </p:nvSpPr>
        <p:spPr>
          <a:xfrm>
            <a:off x="640080" y="4553712"/>
            <a:ext cx="2103120" cy="731520"/>
          </a:xfrm>
          <a:prstGeom prst="rect">
            <a:avLst/>
          </a:prstGeom>
          <a:noFill/>
          <a:ln/>
        </p:spPr>
        <p:txBody>
          <a:bodyPr wrap="square" lIns="0" tIns="0" rIns="0" bIns="0" rtlCol="0" anchor="ctr"/>
          <a:lstStyle/>
          <a:p>
            <a:pPr algn="ctr" indent="0" marL="0">
              <a:lnSpc>
                <a:spcPct val="112000"/>
              </a:lnSpc>
              <a:buNone/>
            </a:pPr>
            <a:r>
              <a:rPr lang="en-US" sz="1250" b="1" dirty="0">
                <a:solidFill>
                  <a:srgbClr val="FFFFFF"/>
                </a:solidFill>
                <a:latin typeface="Arial" pitchFamily="34" charset="0"/>
                <a:ea typeface="Arial" pitchFamily="34" charset="-122"/>
                <a:cs typeface="Arial" pitchFamily="34" charset="-120"/>
              </a:rPr>
              <a:t>Developer agent</a:t>
            </a:r>
            <a:endParaRPr lang="en-US" sz="1250" dirty="0"/>
          </a:p>
          <a:p>
            <a:pPr algn="ctr" indent="0" marL="0">
              <a:lnSpc>
                <a:spcPct val="112000"/>
              </a:lnSpc>
              <a:buNone/>
            </a:pPr>
            <a:r>
              <a:rPr lang="en-US" sz="850" dirty="0">
                <a:solidFill>
                  <a:srgbClr val="E5E7EB"/>
                </a:solidFill>
                <a:latin typeface="Arial" pitchFamily="34" charset="0"/>
                <a:ea typeface="Arial" pitchFamily="34" charset="-122"/>
                <a:cs typeface="Arial" pitchFamily="34" charset="-120"/>
              </a:rPr>
              <a:t>FE · BE · Data subagents</a:t>
            </a:r>
            <a:endParaRPr lang="en-US" sz="1250" dirty="0"/>
          </a:p>
        </p:txBody>
      </p:sp>
      <p:sp>
        <p:nvSpPr>
          <p:cNvPr id="38" name="Shape 36"/>
          <p:cNvSpPr/>
          <p:nvPr/>
        </p:nvSpPr>
        <p:spPr>
          <a:xfrm>
            <a:off x="3200400" y="4553712"/>
            <a:ext cx="2103120" cy="731520"/>
          </a:xfrm>
          <a:prstGeom prst="roundRect">
            <a:avLst>
              <a:gd name="adj" fmla="val 10000"/>
            </a:avLst>
          </a:prstGeom>
          <a:solidFill>
            <a:srgbClr val="028090"/>
          </a:solidFill>
          <a:ln/>
        </p:spPr>
      </p:sp>
      <p:sp>
        <p:nvSpPr>
          <p:cNvPr id="39" name="Text 37"/>
          <p:cNvSpPr/>
          <p:nvPr/>
        </p:nvSpPr>
        <p:spPr>
          <a:xfrm>
            <a:off x="3200400" y="4553712"/>
            <a:ext cx="2103120" cy="731520"/>
          </a:xfrm>
          <a:prstGeom prst="rect">
            <a:avLst/>
          </a:prstGeom>
          <a:noFill/>
          <a:ln/>
        </p:spPr>
        <p:txBody>
          <a:bodyPr wrap="square" lIns="0" tIns="0" rIns="0" bIns="0" rtlCol="0" anchor="ctr"/>
          <a:lstStyle/>
          <a:p>
            <a:pPr algn="ctr" indent="0" marL="0">
              <a:lnSpc>
                <a:spcPct val="112000"/>
              </a:lnSpc>
              <a:buNone/>
            </a:pPr>
            <a:r>
              <a:rPr lang="en-US" sz="1250" b="1" dirty="0">
                <a:solidFill>
                  <a:srgbClr val="FFFFFF"/>
                </a:solidFill>
                <a:latin typeface="Arial" pitchFamily="34" charset="0"/>
                <a:ea typeface="Arial" pitchFamily="34" charset="-122"/>
                <a:cs typeface="Arial" pitchFamily="34" charset="-120"/>
              </a:rPr>
              <a:t>Test agent</a:t>
            </a:r>
            <a:endParaRPr lang="en-US" sz="1250" dirty="0"/>
          </a:p>
          <a:p>
            <a:pPr algn="ctr" indent="0" marL="0">
              <a:lnSpc>
                <a:spcPct val="112000"/>
              </a:lnSpc>
              <a:buNone/>
            </a:pPr>
            <a:r>
              <a:rPr lang="en-US" sz="850" dirty="0">
                <a:solidFill>
                  <a:srgbClr val="E5E7EB"/>
                </a:solidFill>
                <a:latin typeface="Arial" pitchFamily="34" charset="0"/>
                <a:ea typeface="Arial" pitchFamily="34" charset="-122"/>
                <a:cs typeface="Arial" pitchFamily="34" charset="-120"/>
              </a:rPr>
              <a:t>Writes and runs tests</a:t>
            </a:r>
            <a:endParaRPr lang="en-US" sz="1250" dirty="0"/>
          </a:p>
        </p:txBody>
      </p:sp>
      <p:sp>
        <p:nvSpPr>
          <p:cNvPr id="40" name="Shape 38"/>
          <p:cNvSpPr/>
          <p:nvPr/>
        </p:nvSpPr>
        <p:spPr>
          <a:xfrm>
            <a:off x="5760720" y="4553712"/>
            <a:ext cx="2103120" cy="731520"/>
          </a:xfrm>
          <a:prstGeom prst="roundRect">
            <a:avLst>
              <a:gd name="adj" fmla="val 10000"/>
            </a:avLst>
          </a:prstGeom>
          <a:solidFill>
            <a:srgbClr val="B85042"/>
          </a:solidFill>
          <a:ln/>
        </p:spPr>
      </p:sp>
      <p:sp>
        <p:nvSpPr>
          <p:cNvPr id="41" name="Text 39"/>
          <p:cNvSpPr/>
          <p:nvPr/>
        </p:nvSpPr>
        <p:spPr>
          <a:xfrm>
            <a:off x="5760720" y="4553712"/>
            <a:ext cx="2103120" cy="731520"/>
          </a:xfrm>
          <a:prstGeom prst="rect">
            <a:avLst/>
          </a:prstGeom>
          <a:noFill/>
          <a:ln/>
        </p:spPr>
        <p:txBody>
          <a:bodyPr wrap="square" lIns="0" tIns="0" rIns="0" bIns="0" rtlCol="0" anchor="ctr"/>
          <a:lstStyle/>
          <a:p>
            <a:pPr algn="ctr" indent="0" marL="0">
              <a:lnSpc>
                <a:spcPct val="112000"/>
              </a:lnSpc>
              <a:buNone/>
            </a:pPr>
            <a:r>
              <a:rPr lang="en-US" sz="1250" b="1" dirty="0">
                <a:solidFill>
                  <a:srgbClr val="FFFFFF"/>
                </a:solidFill>
                <a:latin typeface="Arial" pitchFamily="34" charset="0"/>
                <a:ea typeface="Arial" pitchFamily="34" charset="-122"/>
                <a:cs typeface="Arial" pitchFamily="34" charset="-120"/>
              </a:rPr>
              <a:t>Code review agent</a:t>
            </a:r>
            <a:endParaRPr lang="en-US" sz="1250" dirty="0"/>
          </a:p>
          <a:p>
            <a:pPr algn="ctr" indent="0" marL="0">
              <a:lnSpc>
                <a:spcPct val="112000"/>
              </a:lnSpc>
              <a:buNone/>
            </a:pPr>
            <a:r>
              <a:rPr lang="en-US" sz="850" dirty="0">
                <a:solidFill>
                  <a:srgbClr val="E5E7EB"/>
                </a:solidFill>
                <a:latin typeface="Arial" pitchFamily="34" charset="0"/>
                <a:ea typeface="Arial" pitchFamily="34" charset="-122"/>
                <a:cs typeface="Arial" pitchFamily="34" charset="-120"/>
              </a:rPr>
              <a:t>Approves changes</a:t>
            </a:r>
            <a:endParaRPr lang="en-US" sz="1250" dirty="0"/>
          </a:p>
        </p:txBody>
      </p:sp>
      <p:sp>
        <p:nvSpPr>
          <p:cNvPr id="42" name="Shape 40"/>
          <p:cNvSpPr/>
          <p:nvPr/>
        </p:nvSpPr>
        <p:spPr>
          <a:xfrm>
            <a:off x="8321040" y="4553712"/>
            <a:ext cx="2103120" cy="731520"/>
          </a:xfrm>
          <a:prstGeom prst="roundRect">
            <a:avLst>
              <a:gd name="adj" fmla="val 10000"/>
            </a:avLst>
          </a:prstGeom>
          <a:solidFill>
            <a:srgbClr val="B85042"/>
          </a:solidFill>
          <a:ln/>
        </p:spPr>
      </p:sp>
      <p:sp>
        <p:nvSpPr>
          <p:cNvPr id="43" name="Text 41"/>
          <p:cNvSpPr/>
          <p:nvPr/>
        </p:nvSpPr>
        <p:spPr>
          <a:xfrm>
            <a:off x="8321040" y="4553712"/>
            <a:ext cx="2103120" cy="731520"/>
          </a:xfrm>
          <a:prstGeom prst="rect">
            <a:avLst/>
          </a:prstGeom>
          <a:noFill/>
          <a:ln/>
        </p:spPr>
        <p:txBody>
          <a:bodyPr wrap="square" lIns="0" tIns="0" rIns="0" bIns="0" rtlCol="0" anchor="ctr"/>
          <a:lstStyle/>
          <a:p>
            <a:pPr algn="ctr" indent="0" marL="0">
              <a:lnSpc>
                <a:spcPct val="112000"/>
              </a:lnSpc>
              <a:buNone/>
            </a:pPr>
            <a:r>
              <a:rPr lang="en-US" sz="1250" b="1" dirty="0">
                <a:solidFill>
                  <a:srgbClr val="FFFFFF"/>
                </a:solidFill>
                <a:latin typeface="Arial" pitchFamily="34" charset="0"/>
                <a:ea typeface="Arial" pitchFamily="34" charset="-122"/>
                <a:cs typeface="Arial" pitchFamily="34" charset="-120"/>
              </a:rPr>
              <a:t>Deployment agent</a:t>
            </a:r>
            <a:endParaRPr lang="en-US" sz="1250" dirty="0"/>
          </a:p>
          <a:p>
            <a:pPr algn="ctr" indent="0" marL="0">
              <a:lnSpc>
                <a:spcPct val="112000"/>
              </a:lnSpc>
              <a:buNone/>
            </a:pPr>
            <a:r>
              <a:rPr lang="en-US" sz="850" dirty="0">
                <a:solidFill>
                  <a:srgbClr val="E5E7EB"/>
                </a:solidFill>
                <a:latin typeface="Arial" pitchFamily="34" charset="0"/>
                <a:ea typeface="Arial" pitchFamily="34" charset="-122"/>
                <a:cs typeface="Arial" pitchFamily="34" charset="-120"/>
              </a:rPr>
              <a:t>CI/CD to production</a:t>
            </a:r>
            <a:endParaRPr lang="en-US" sz="1250" dirty="0"/>
          </a:p>
        </p:txBody>
      </p:sp>
      <p:sp>
        <p:nvSpPr>
          <p:cNvPr id="44" name="Shape 42"/>
          <p:cNvSpPr/>
          <p:nvPr/>
        </p:nvSpPr>
        <p:spPr>
          <a:xfrm>
            <a:off x="2743200" y="4919472"/>
            <a:ext cx="438912" cy="0"/>
          </a:xfrm>
          <a:prstGeom prst="line">
            <a:avLst/>
          </a:prstGeom>
          <a:noFill/>
          <a:ln w="19050">
            <a:solidFill>
              <a:srgbClr val="6B7280"/>
            </a:solidFill>
            <a:prstDash val="solid"/>
            <a:tailEnd type="triangle"/>
          </a:ln>
        </p:spPr>
      </p:sp>
      <p:sp>
        <p:nvSpPr>
          <p:cNvPr id="45" name="Text 43"/>
          <p:cNvSpPr/>
          <p:nvPr/>
        </p:nvSpPr>
        <p:spPr>
          <a:xfrm>
            <a:off x="2414016" y="4636008"/>
            <a:ext cx="1097280" cy="256032"/>
          </a:xfrm>
          <a:prstGeom prst="rect">
            <a:avLst/>
          </a:prstGeom>
          <a:noFill/>
          <a:ln/>
        </p:spPr>
        <p:txBody>
          <a:bodyPr wrap="square" lIns="0" tIns="0" rIns="0" bIns="0" rtlCol="0" anchor="b"/>
          <a:lstStyle/>
          <a:p>
            <a:pPr algn="ctr" indent="0" marL="0">
              <a:buNone/>
            </a:pPr>
            <a:r>
              <a:rPr lang="en-US" sz="900" i="1" dirty="0">
                <a:solidFill>
                  <a:srgbClr val="6B7280"/>
                </a:solidFill>
                <a:latin typeface="Arial" pitchFamily="34" charset="0"/>
                <a:ea typeface="Arial" pitchFamily="34" charset="-122"/>
                <a:cs typeface="Arial" pitchFamily="34" charset="-120"/>
              </a:rPr>
              <a:t>code</a:t>
            </a:r>
            <a:endParaRPr lang="en-US" sz="900" dirty="0"/>
          </a:p>
        </p:txBody>
      </p:sp>
      <p:sp>
        <p:nvSpPr>
          <p:cNvPr id="46" name="Shape 44"/>
          <p:cNvSpPr/>
          <p:nvPr/>
        </p:nvSpPr>
        <p:spPr>
          <a:xfrm>
            <a:off x="5303520" y="4919472"/>
            <a:ext cx="438912" cy="0"/>
          </a:xfrm>
          <a:prstGeom prst="line">
            <a:avLst/>
          </a:prstGeom>
          <a:noFill/>
          <a:ln w="19050">
            <a:solidFill>
              <a:srgbClr val="6B7280"/>
            </a:solidFill>
            <a:prstDash val="solid"/>
            <a:tailEnd type="triangle"/>
          </a:ln>
        </p:spPr>
      </p:sp>
      <p:sp>
        <p:nvSpPr>
          <p:cNvPr id="47" name="Text 45"/>
          <p:cNvSpPr/>
          <p:nvPr/>
        </p:nvSpPr>
        <p:spPr>
          <a:xfrm>
            <a:off x="4974336" y="4636008"/>
            <a:ext cx="1097280" cy="256032"/>
          </a:xfrm>
          <a:prstGeom prst="rect">
            <a:avLst/>
          </a:prstGeom>
          <a:noFill/>
          <a:ln/>
        </p:spPr>
        <p:txBody>
          <a:bodyPr wrap="square" lIns="0" tIns="0" rIns="0" bIns="0" rtlCol="0" anchor="b"/>
          <a:lstStyle/>
          <a:p>
            <a:pPr algn="ctr" indent="0" marL="0">
              <a:buNone/>
            </a:pPr>
            <a:r>
              <a:rPr lang="en-US" sz="900" i="1" dirty="0">
                <a:solidFill>
                  <a:srgbClr val="6B7280"/>
                </a:solidFill>
                <a:latin typeface="Arial" pitchFamily="34" charset="0"/>
                <a:ea typeface="Arial" pitchFamily="34" charset="-122"/>
                <a:cs typeface="Arial" pitchFamily="34" charset="-120"/>
              </a:rPr>
              <a:t>pass</a:t>
            </a:r>
            <a:endParaRPr lang="en-US" sz="900" dirty="0"/>
          </a:p>
        </p:txBody>
      </p:sp>
      <p:sp>
        <p:nvSpPr>
          <p:cNvPr id="48" name="Shape 46"/>
          <p:cNvSpPr/>
          <p:nvPr/>
        </p:nvSpPr>
        <p:spPr>
          <a:xfrm>
            <a:off x="7863840" y="4919472"/>
            <a:ext cx="438912" cy="0"/>
          </a:xfrm>
          <a:prstGeom prst="line">
            <a:avLst/>
          </a:prstGeom>
          <a:noFill/>
          <a:ln w="19050">
            <a:solidFill>
              <a:srgbClr val="6B7280"/>
            </a:solidFill>
            <a:prstDash val="solid"/>
            <a:tailEnd type="triangle"/>
          </a:ln>
        </p:spPr>
      </p:sp>
      <p:sp>
        <p:nvSpPr>
          <p:cNvPr id="49" name="Text 47"/>
          <p:cNvSpPr/>
          <p:nvPr/>
        </p:nvSpPr>
        <p:spPr>
          <a:xfrm>
            <a:off x="7534656" y="4636008"/>
            <a:ext cx="1097280" cy="256032"/>
          </a:xfrm>
          <a:prstGeom prst="rect">
            <a:avLst/>
          </a:prstGeom>
          <a:noFill/>
          <a:ln/>
        </p:spPr>
        <p:txBody>
          <a:bodyPr wrap="square" lIns="0" tIns="0" rIns="0" bIns="0" rtlCol="0" anchor="b"/>
          <a:lstStyle/>
          <a:p>
            <a:pPr algn="ctr" indent="0" marL="0">
              <a:buNone/>
            </a:pPr>
            <a:r>
              <a:rPr lang="en-US" sz="900" i="1" dirty="0">
                <a:solidFill>
                  <a:srgbClr val="6B7280"/>
                </a:solidFill>
                <a:latin typeface="Arial" pitchFamily="34" charset="0"/>
                <a:ea typeface="Arial" pitchFamily="34" charset="-122"/>
                <a:cs typeface="Arial" pitchFamily="34" charset="-120"/>
              </a:rPr>
              <a:t>PR</a:t>
            </a:r>
            <a:endParaRPr lang="en-US" sz="900" dirty="0"/>
          </a:p>
        </p:txBody>
      </p:sp>
      <p:sp>
        <p:nvSpPr>
          <p:cNvPr id="50" name="Shape 48"/>
          <p:cNvSpPr/>
          <p:nvPr/>
        </p:nvSpPr>
        <p:spPr>
          <a:xfrm>
            <a:off x="10744200" y="4663440"/>
            <a:ext cx="1051560" cy="512064"/>
          </a:xfrm>
          <a:prstGeom prst="roundRect">
            <a:avLst>
              <a:gd name="adj" fmla="val 50000"/>
            </a:avLst>
          </a:prstGeom>
          <a:solidFill>
            <a:srgbClr val="2C5F2D"/>
          </a:solidFill>
          <a:ln/>
        </p:spPr>
      </p:sp>
      <p:sp>
        <p:nvSpPr>
          <p:cNvPr id="51" name="Text 49"/>
          <p:cNvSpPr/>
          <p:nvPr/>
        </p:nvSpPr>
        <p:spPr>
          <a:xfrm>
            <a:off x="10744200" y="4663440"/>
            <a:ext cx="1051560"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Live</a:t>
            </a:r>
            <a:endParaRPr lang="en-US" sz="1400" dirty="0"/>
          </a:p>
        </p:txBody>
      </p:sp>
      <p:sp>
        <p:nvSpPr>
          <p:cNvPr id="52" name="Shape 50"/>
          <p:cNvSpPr/>
          <p:nvPr/>
        </p:nvSpPr>
        <p:spPr>
          <a:xfrm>
            <a:off x="10424160" y="4919472"/>
            <a:ext cx="301752" cy="0"/>
          </a:xfrm>
          <a:prstGeom prst="line">
            <a:avLst/>
          </a:prstGeom>
          <a:noFill/>
          <a:ln w="19050">
            <a:solidFill>
              <a:srgbClr val="6B7280"/>
            </a:solidFill>
            <a:prstDash val="solid"/>
            <a:tailEnd type="triangle"/>
          </a:ln>
        </p:spPr>
      </p:sp>
      <p:sp>
        <p:nvSpPr>
          <p:cNvPr id="53" name="Shape 51"/>
          <p:cNvSpPr/>
          <p:nvPr/>
        </p:nvSpPr>
        <p:spPr>
          <a:xfrm>
            <a:off x="4251960" y="5285232"/>
            <a:ext cx="0" cy="292608"/>
          </a:xfrm>
          <a:prstGeom prst="line">
            <a:avLst/>
          </a:prstGeom>
          <a:noFill/>
          <a:ln w="15875">
            <a:solidFill>
              <a:srgbClr val="9CA3AF"/>
            </a:solidFill>
            <a:prstDash val="dash"/>
          </a:ln>
        </p:spPr>
      </p:sp>
      <p:sp>
        <p:nvSpPr>
          <p:cNvPr id="54" name="Shape 52"/>
          <p:cNvSpPr/>
          <p:nvPr/>
        </p:nvSpPr>
        <p:spPr>
          <a:xfrm>
            <a:off x="1874520" y="5577840"/>
            <a:ext cx="2377440" cy="0"/>
          </a:xfrm>
          <a:prstGeom prst="line">
            <a:avLst/>
          </a:prstGeom>
          <a:noFill/>
          <a:ln w="15875">
            <a:solidFill>
              <a:srgbClr val="9CA3AF"/>
            </a:solidFill>
            <a:prstDash val="dash"/>
          </a:ln>
        </p:spPr>
      </p:sp>
      <p:sp>
        <p:nvSpPr>
          <p:cNvPr id="55" name="Shape 53"/>
          <p:cNvSpPr/>
          <p:nvPr/>
        </p:nvSpPr>
        <p:spPr>
          <a:xfrm>
            <a:off x="1874520" y="5303520"/>
            <a:ext cx="0" cy="274320"/>
          </a:xfrm>
          <a:prstGeom prst="line">
            <a:avLst/>
          </a:prstGeom>
          <a:noFill/>
          <a:ln w="15875">
            <a:solidFill>
              <a:srgbClr val="9CA3AF"/>
            </a:solidFill>
            <a:prstDash val="dash"/>
            <a:headEnd type="triangle"/>
          </a:ln>
        </p:spPr>
      </p:sp>
      <p:sp>
        <p:nvSpPr>
          <p:cNvPr id="56" name="Text 54"/>
          <p:cNvSpPr/>
          <p:nvPr/>
        </p:nvSpPr>
        <p:spPr>
          <a:xfrm>
            <a:off x="2651760" y="5586984"/>
            <a:ext cx="2377440" cy="219456"/>
          </a:xfrm>
          <a:prstGeom prst="rect">
            <a:avLst/>
          </a:prstGeom>
          <a:noFill/>
          <a:ln/>
        </p:spPr>
        <p:txBody>
          <a:bodyPr wrap="square" lIns="0" tIns="0" rIns="0" bIns="0" rtlCol="0" anchor="t"/>
          <a:lstStyle/>
          <a:p>
            <a:pPr algn="l" indent="0" marL="0">
              <a:buNone/>
            </a:pPr>
            <a:r>
              <a:rPr lang="en-US" sz="900" i="1" dirty="0">
                <a:solidFill>
                  <a:srgbClr val="6B7280"/>
                </a:solidFill>
                <a:latin typeface="Arial" pitchFamily="34" charset="0"/>
                <a:ea typeface="Arial" pitchFamily="34" charset="-122"/>
                <a:cs typeface="Arial" pitchFamily="34" charset="-120"/>
              </a:rPr>
              <a:t>tests fail</a:t>
            </a:r>
            <a:endParaRPr lang="en-US" sz="900" dirty="0"/>
          </a:p>
        </p:txBody>
      </p:sp>
      <p:sp>
        <p:nvSpPr>
          <p:cNvPr id="57" name="Shape 55"/>
          <p:cNvSpPr/>
          <p:nvPr/>
        </p:nvSpPr>
        <p:spPr>
          <a:xfrm>
            <a:off x="6812280" y="5285232"/>
            <a:ext cx="0" cy="603504"/>
          </a:xfrm>
          <a:prstGeom prst="line">
            <a:avLst/>
          </a:prstGeom>
          <a:noFill/>
          <a:ln w="15875">
            <a:solidFill>
              <a:srgbClr val="9CA3AF"/>
            </a:solidFill>
            <a:prstDash val="dash"/>
          </a:ln>
        </p:spPr>
      </p:sp>
      <p:sp>
        <p:nvSpPr>
          <p:cNvPr id="58" name="Shape 56"/>
          <p:cNvSpPr/>
          <p:nvPr/>
        </p:nvSpPr>
        <p:spPr>
          <a:xfrm>
            <a:off x="1463040" y="5888736"/>
            <a:ext cx="5349240" cy="0"/>
          </a:xfrm>
          <a:prstGeom prst="line">
            <a:avLst/>
          </a:prstGeom>
          <a:noFill/>
          <a:ln w="15875">
            <a:solidFill>
              <a:srgbClr val="9CA3AF"/>
            </a:solidFill>
            <a:prstDash val="dash"/>
          </a:ln>
        </p:spPr>
      </p:sp>
      <p:sp>
        <p:nvSpPr>
          <p:cNvPr id="59" name="Shape 57"/>
          <p:cNvSpPr/>
          <p:nvPr/>
        </p:nvSpPr>
        <p:spPr>
          <a:xfrm>
            <a:off x="1463040" y="5303520"/>
            <a:ext cx="0" cy="585216"/>
          </a:xfrm>
          <a:prstGeom prst="line">
            <a:avLst/>
          </a:prstGeom>
          <a:noFill/>
          <a:ln w="15875">
            <a:solidFill>
              <a:srgbClr val="9CA3AF"/>
            </a:solidFill>
            <a:prstDash val="dash"/>
            <a:headEnd type="triangle"/>
          </a:ln>
        </p:spPr>
      </p:sp>
      <p:sp>
        <p:nvSpPr>
          <p:cNvPr id="60" name="Text 58"/>
          <p:cNvSpPr/>
          <p:nvPr/>
        </p:nvSpPr>
        <p:spPr>
          <a:xfrm>
            <a:off x="2926080" y="5897880"/>
            <a:ext cx="2377440" cy="219456"/>
          </a:xfrm>
          <a:prstGeom prst="rect">
            <a:avLst/>
          </a:prstGeom>
          <a:noFill/>
          <a:ln/>
        </p:spPr>
        <p:txBody>
          <a:bodyPr wrap="square" lIns="0" tIns="0" rIns="0" bIns="0" rtlCol="0" anchor="t"/>
          <a:lstStyle/>
          <a:p>
            <a:pPr algn="l" indent="0" marL="0">
              <a:buNone/>
            </a:pPr>
            <a:r>
              <a:rPr lang="en-US" sz="900" i="1" dirty="0">
                <a:solidFill>
                  <a:srgbClr val="6B7280"/>
                </a:solidFill>
                <a:latin typeface="Arial" pitchFamily="34" charset="0"/>
                <a:ea typeface="Arial" pitchFamily="34" charset="-122"/>
                <a:cs typeface="Arial" pitchFamily="34" charset="-120"/>
              </a:rPr>
              <a:t>changes requested</a:t>
            </a:r>
            <a:endParaRPr lang="en-US" sz="900" dirty="0"/>
          </a:p>
        </p:txBody>
      </p:sp>
      <p:sp>
        <p:nvSpPr>
          <p:cNvPr id="61" name="Shape 59"/>
          <p:cNvSpPr/>
          <p:nvPr/>
        </p:nvSpPr>
        <p:spPr>
          <a:xfrm>
            <a:off x="640080" y="6327648"/>
            <a:ext cx="182880" cy="182880"/>
          </a:xfrm>
          <a:prstGeom prst="roundRect">
            <a:avLst>
              <a:gd name="adj" fmla="val 20000"/>
            </a:avLst>
          </a:prstGeom>
          <a:solidFill>
            <a:srgbClr val="1E2761"/>
          </a:solidFill>
          <a:ln/>
        </p:spPr>
      </p:sp>
      <p:sp>
        <p:nvSpPr>
          <p:cNvPr id="62" name="Text 60"/>
          <p:cNvSpPr/>
          <p:nvPr/>
        </p:nvSpPr>
        <p:spPr>
          <a:xfrm>
            <a:off x="914400" y="6281928"/>
            <a:ext cx="822960" cy="274320"/>
          </a:xfrm>
          <a:prstGeom prst="rect">
            <a:avLst/>
          </a:prstGeom>
          <a:noFill/>
          <a:ln/>
        </p:spPr>
        <p:txBody>
          <a:bodyPr wrap="square" lIns="0" tIns="0" rIns="0" bIns="0" rtlCol="0" anchor="ctr"/>
          <a:lstStyle/>
          <a:p>
            <a:pPr algn="l" indent="0" marL="0">
              <a:buNone/>
            </a:pPr>
            <a:r>
              <a:rPr lang="en-US" sz="1050" dirty="0">
                <a:solidFill>
                  <a:srgbClr val="6B7280"/>
                </a:solidFill>
                <a:latin typeface="Arial" pitchFamily="34" charset="0"/>
                <a:ea typeface="Arial" pitchFamily="34" charset="-122"/>
                <a:cs typeface="Arial" pitchFamily="34" charset="-120"/>
              </a:rPr>
              <a:t>Plan</a:t>
            </a:r>
            <a:endParaRPr lang="en-US" sz="1050" dirty="0"/>
          </a:p>
        </p:txBody>
      </p:sp>
      <p:sp>
        <p:nvSpPr>
          <p:cNvPr id="63" name="Shape 61"/>
          <p:cNvSpPr/>
          <p:nvPr/>
        </p:nvSpPr>
        <p:spPr>
          <a:xfrm>
            <a:off x="1828800" y="6327648"/>
            <a:ext cx="182880" cy="182880"/>
          </a:xfrm>
          <a:prstGeom prst="roundRect">
            <a:avLst>
              <a:gd name="adj" fmla="val 20000"/>
            </a:avLst>
          </a:prstGeom>
          <a:solidFill>
            <a:srgbClr val="028090"/>
          </a:solidFill>
          <a:ln/>
        </p:spPr>
      </p:sp>
      <p:sp>
        <p:nvSpPr>
          <p:cNvPr id="64" name="Text 62"/>
          <p:cNvSpPr/>
          <p:nvPr/>
        </p:nvSpPr>
        <p:spPr>
          <a:xfrm>
            <a:off x="2103120" y="6281928"/>
            <a:ext cx="1188720" cy="274320"/>
          </a:xfrm>
          <a:prstGeom prst="rect">
            <a:avLst/>
          </a:prstGeom>
          <a:noFill/>
          <a:ln/>
        </p:spPr>
        <p:txBody>
          <a:bodyPr wrap="square" lIns="0" tIns="0" rIns="0" bIns="0" rtlCol="0" anchor="ctr"/>
          <a:lstStyle/>
          <a:p>
            <a:pPr algn="l" indent="0" marL="0">
              <a:buNone/>
            </a:pPr>
            <a:r>
              <a:rPr lang="en-US" sz="1050" dirty="0">
                <a:solidFill>
                  <a:srgbClr val="6B7280"/>
                </a:solidFill>
                <a:latin typeface="Arial" pitchFamily="34" charset="0"/>
                <a:ea typeface="Arial" pitchFamily="34" charset="-122"/>
                <a:cs typeface="Arial" pitchFamily="34" charset="-120"/>
              </a:rPr>
              <a:t>Build &amp; test</a:t>
            </a:r>
            <a:endParaRPr lang="en-US" sz="1050" dirty="0"/>
          </a:p>
        </p:txBody>
      </p:sp>
      <p:sp>
        <p:nvSpPr>
          <p:cNvPr id="65" name="Shape 63"/>
          <p:cNvSpPr/>
          <p:nvPr/>
        </p:nvSpPr>
        <p:spPr>
          <a:xfrm>
            <a:off x="3566160" y="6327648"/>
            <a:ext cx="182880" cy="182880"/>
          </a:xfrm>
          <a:prstGeom prst="roundRect">
            <a:avLst>
              <a:gd name="adj" fmla="val 20000"/>
            </a:avLst>
          </a:prstGeom>
          <a:solidFill>
            <a:srgbClr val="B85042"/>
          </a:solidFill>
          <a:ln/>
        </p:spPr>
      </p:sp>
      <p:sp>
        <p:nvSpPr>
          <p:cNvPr id="66" name="Text 64"/>
          <p:cNvSpPr/>
          <p:nvPr/>
        </p:nvSpPr>
        <p:spPr>
          <a:xfrm>
            <a:off x="3840480" y="6281928"/>
            <a:ext cx="914400" cy="274320"/>
          </a:xfrm>
          <a:prstGeom prst="rect">
            <a:avLst/>
          </a:prstGeom>
          <a:noFill/>
          <a:ln/>
        </p:spPr>
        <p:txBody>
          <a:bodyPr wrap="square" lIns="0" tIns="0" rIns="0" bIns="0" rtlCol="0" anchor="ctr"/>
          <a:lstStyle/>
          <a:p>
            <a:pPr algn="l" indent="0" marL="0">
              <a:buNone/>
            </a:pPr>
            <a:r>
              <a:rPr lang="en-US" sz="1050" dirty="0">
                <a:solidFill>
                  <a:srgbClr val="6B7280"/>
                </a:solidFill>
                <a:latin typeface="Arial" pitchFamily="34" charset="0"/>
                <a:ea typeface="Arial" pitchFamily="34" charset="-122"/>
                <a:cs typeface="Arial" pitchFamily="34" charset="-120"/>
              </a:rPr>
              <a:t>Release</a:t>
            </a:r>
            <a:endParaRPr lang="en-US" sz="1050" dirty="0"/>
          </a:p>
        </p:txBody>
      </p:sp>
      <p:sp>
        <p:nvSpPr>
          <p:cNvPr id="67" name="Shape 65"/>
          <p:cNvSpPr/>
          <p:nvPr/>
        </p:nvSpPr>
        <p:spPr>
          <a:xfrm>
            <a:off x="4892040" y="6327648"/>
            <a:ext cx="182880" cy="182880"/>
          </a:xfrm>
          <a:prstGeom prst="roundRect">
            <a:avLst>
              <a:gd name="adj" fmla="val 20000"/>
            </a:avLst>
          </a:prstGeom>
          <a:solidFill>
            <a:srgbClr val="2C5F2D"/>
          </a:solidFill>
          <a:ln/>
        </p:spPr>
      </p:sp>
      <p:sp>
        <p:nvSpPr>
          <p:cNvPr id="68" name="Text 66"/>
          <p:cNvSpPr/>
          <p:nvPr/>
        </p:nvSpPr>
        <p:spPr>
          <a:xfrm>
            <a:off x="5166360" y="6281928"/>
            <a:ext cx="1280160" cy="274320"/>
          </a:xfrm>
          <a:prstGeom prst="rect">
            <a:avLst/>
          </a:prstGeom>
          <a:noFill/>
          <a:ln/>
        </p:spPr>
        <p:txBody>
          <a:bodyPr wrap="square" lIns="0" tIns="0" rIns="0" bIns="0" rtlCol="0" anchor="ctr"/>
          <a:lstStyle/>
          <a:p>
            <a:pPr algn="l" indent="0" marL="0">
              <a:buNone/>
            </a:pPr>
            <a:r>
              <a:rPr lang="en-US" sz="1050" dirty="0">
                <a:solidFill>
                  <a:srgbClr val="6B7280"/>
                </a:solidFill>
                <a:latin typeface="Arial" pitchFamily="34" charset="0"/>
                <a:ea typeface="Arial" pitchFamily="34" charset="-122"/>
                <a:cs typeface="Arial" pitchFamily="34" charset="-120"/>
              </a:rPr>
              <a:t>In production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2026-08-14T22:59:03Z</dcterms:created>
  <dcterms:modified xsi:type="dcterms:W3CDTF">2026-08-14T22:59:03Z</dcterms:modified>
</cp:coreProperties>
</file>